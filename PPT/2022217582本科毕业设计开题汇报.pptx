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634" r:id="rId3"/>
    <p:sldId id="606" r:id="rId4"/>
    <p:sldId id="635" r:id="rId5"/>
    <p:sldId id="665" r:id="rId6"/>
    <p:sldId id="652" r:id="rId7"/>
    <p:sldId id="645" r:id="rId8"/>
    <p:sldId id="640" r:id="rId9"/>
    <p:sldId id="654" r:id="rId10"/>
    <p:sldId id="655" r:id="rId11"/>
    <p:sldId id="641" r:id="rId12"/>
    <p:sldId id="653" r:id="rId13"/>
    <p:sldId id="642" r:id="rId14"/>
    <p:sldId id="643" r:id="rId15"/>
    <p:sldId id="656" r:id="rId16"/>
    <p:sldId id="637" r:id="rId17"/>
  </p:sldIdLst>
  <p:sldSz cx="9144000" cy="6858000" type="screen4x3"/>
  <p:notesSz cx="6858000" cy="9144000"/>
  <p:custDataLst>
    <p:tags r:id="rId23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5200" b="0" i="0" u="none" kern="1200" baseline="0">
        <a:solidFill>
          <a:srgbClr val="CC3300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00"/>
    <a:srgbClr val="CC3300"/>
    <a:srgbClr val="66FF66"/>
    <a:srgbClr val="CC9900"/>
    <a:srgbClr val="FF9900"/>
    <a:srgbClr val="CC66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952"/>
    <p:restoredTop sz="94660"/>
  </p:normalViewPr>
  <p:slideViewPr>
    <p:cSldViewPr showGuides="1">
      <p:cViewPr>
        <p:scale>
          <a:sx n="100" d="100"/>
          <a:sy n="100" d="100"/>
        </p:scale>
        <p:origin x="1674" y="264"/>
      </p:cViewPr>
      <p:guideLst>
        <p:guide orient="horz" pos="2160"/>
        <p:guide pos="29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7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7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E0D0592-E302-4CE7-8AE6-AB3FD5CD54C7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7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7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1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7F27A6E-C157-45C7-8C37-82477571EDF6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88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617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17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17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AutoShape 7"/>
          <p:cNvSpPr/>
          <p:nvPr/>
        </p:nvSpPr>
        <p:spPr>
          <a:xfrm>
            <a:off x="684213" y="2708275"/>
            <a:ext cx="7772400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pic>
        <p:nvPicPr>
          <p:cNvPr id="2056" name="Picture 15" descr="050907c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  <a:lum bright="39999" contrast="-39999"/>
          </a:blip>
          <a:srcRect b="12874"/>
          <a:stretch>
            <a:fillRect/>
          </a:stretch>
        </p:blipFill>
        <p:spPr>
          <a:xfrm>
            <a:off x="4283075" y="2420938"/>
            <a:ext cx="3168650" cy="2952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7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1196975"/>
            <a:ext cx="7772400" cy="1371600"/>
          </a:xfrm>
        </p:spPr>
        <p:txBody>
          <a:bodyPr/>
          <a:lstStyle>
            <a:lvl1pPr>
              <a:defRPr sz="33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76375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latin typeface="+mj-lt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C78750-5C36-49AE-A909-DD469F8769FE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55625" y="1844675"/>
            <a:ext cx="4027488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35513" y="1844675"/>
            <a:ext cx="4027487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Rectangle 7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单击图标添加图片</a:t>
            </a: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11950" y="304800"/>
            <a:ext cx="2051050" cy="58070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5625" y="304800"/>
            <a:ext cx="6003925" cy="58070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55625" y="1844675"/>
            <a:ext cx="4027488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35513" y="1844675"/>
            <a:ext cx="4027487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555625" y="1844675"/>
            <a:ext cx="8207375" cy="426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r>
              <a: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单击图标添加表格</a:t>
            </a:r>
            <a:endParaRPr kumimoji="0" lang="zh-CN" altLang="en-US" sz="28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55625" y="1844675"/>
            <a:ext cx="4027488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35513" y="1844675"/>
            <a:ext cx="4027487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55625" y="4054475"/>
            <a:ext cx="4027488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35513" y="4054475"/>
            <a:ext cx="4027487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Rectangle 7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2.jpe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539750" y="233363"/>
            <a:ext cx="8001000" cy="74771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539750" y="1341438"/>
            <a:ext cx="8207375" cy="477043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a</a:t>
            </a: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1028" name="AutoShape 4"/>
          <p:cNvSpPr/>
          <p:nvPr/>
        </p:nvSpPr>
        <p:spPr>
          <a:xfrm>
            <a:off x="539750" y="1087438"/>
            <a:ext cx="7958138" cy="109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29" name="Line 5"/>
          <p:cNvSpPr/>
          <p:nvPr/>
        </p:nvSpPr>
        <p:spPr>
          <a:xfrm flipV="1">
            <a:off x="609600" y="6172200"/>
            <a:ext cx="7924800" cy="0"/>
          </a:xfrm>
          <a:prstGeom prst="line">
            <a:avLst/>
          </a:prstGeom>
          <a:ln w="31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643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37288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 b="0">
                <a:solidFill>
                  <a:schemeClr val="tx1"/>
                </a:solidFill>
                <a:latin typeface="+mj-lt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4" name="Rectangle 6"/>
          <p:cNvSpPr>
            <a:spLocks noChangeArrowheads="1"/>
          </p:cNvSpPr>
          <p:nvPr/>
        </p:nvSpPr>
        <p:spPr bwMode="auto">
          <a:xfrm>
            <a:off x="7235825" y="6375400"/>
            <a:ext cx="1370013" cy="268288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en-US" altLang="zh-CN" sz="1200" dirty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5" name="日期占位符 3"/>
          <p:cNvSpPr txBox="1">
            <a:spLocks noGrp="1"/>
          </p:cNvSpPr>
          <p:nvPr/>
        </p:nvSpPr>
        <p:spPr bwMode="auto">
          <a:xfrm>
            <a:off x="611188" y="6396038"/>
            <a:ext cx="1370013" cy="26828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ctr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1pPr>
            <a:lvl2pPr marL="742950" indent="-285750" algn="ctr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2pPr>
            <a:lvl3pPr marL="1143000" indent="-228600" algn="ctr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3pPr>
            <a:lvl4pPr marL="1600200" indent="-228600" algn="ctr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4pPr>
            <a:lvl5pPr marL="2057400" indent="-228600" algn="ctr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5pPr>
            <a:lvl6pPr marL="25146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6pPr>
            <a:lvl7pPr marL="29718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7pPr>
            <a:lvl8pPr marL="34290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8pPr>
            <a:lvl9pPr marL="3886200" indent="-228600" algn="ctr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defRPr sz="5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B51CDF3-4289-4BC6-B0F4-3C2C34010D75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33" name="图片 2" descr="图片包含 应用程序&#10;&#10;描述已自动生成"/>
          <p:cNvPicPr>
            <a:picLocks noChangeAspect="1"/>
          </p:cNvPicPr>
          <p:nvPr userDrawn="1"/>
        </p:nvPicPr>
        <p:blipFill>
          <a:blip r:embed="rId15"/>
          <a:srcRect r="29689"/>
          <a:stretch>
            <a:fillRect/>
          </a:stretch>
        </p:blipFill>
        <p:spPr>
          <a:xfrm>
            <a:off x="7481888" y="476250"/>
            <a:ext cx="1592262" cy="36036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Verdana" panose="020B0604030504040204" pitchFamily="34" charset="0"/>
          <a:ea typeface="黑体" panose="02010609060101010101" pitchFamily="49" charset="-122"/>
        </a:defRPr>
      </a:lvl9pPr>
    </p:titleStyle>
    <p:bodyStyle>
      <a:lvl1pPr marL="469900" indent="-469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8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908050" indent="-43688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8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400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539750" y="1302385"/>
            <a:ext cx="7929880" cy="173418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600" dirty="0"/>
              <a:t>题目：</a:t>
            </a:r>
            <a:r>
              <a:rPr sz="3600" dirty="0"/>
              <a:t>基于Go的高性能短视频Feed流系统的设计与实现</a:t>
            </a:r>
            <a:r>
              <a:rPr sz="3600" dirty="0"/>
              <a:t> 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18435" name="Text Box 6"/>
          <p:cNvSpPr txBox="1"/>
          <p:nvPr/>
        </p:nvSpPr>
        <p:spPr>
          <a:xfrm>
            <a:off x="1835150" y="0"/>
            <a:ext cx="7308850" cy="1281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908050" indent="-43688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812800" lvl="0" indent="-812800" algn="ctr" eaLnBrk="1" hangingPunct="1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None/>
            </a:pPr>
            <a:endParaRPr lang="zh-CN" altLang="en-US" sz="5200" b="1" dirty="0">
              <a:solidFill>
                <a:srgbClr val="CC33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18436" name="Text Box 7"/>
          <p:cNvSpPr txBox="1"/>
          <p:nvPr/>
        </p:nvSpPr>
        <p:spPr>
          <a:xfrm>
            <a:off x="611188" y="188913"/>
            <a:ext cx="7848600" cy="7572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908050" indent="-43688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812800" lvl="0" indent="-812800" algn="ctr" eaLnBrk="1" hangingPunct="1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None/>
            </a:pPr>
            <a:r>
              <a:rPr lang="en-US" altLang="zh-CN" sz="3200" b="1" dirty="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2022</a:t>
            </a:r>
            <a:r>
              <a:rPr lang="zh-CN" altLang="en-US" sz="3200" b="1" dirty="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级本科毕业设计开题汇报</a:t>
            </a:r>
            <a:endParaRPr lang="zh-CN" altLang="en-US" sz="3200" b="1" dirty="0">
              <a:solidFill>
                <a:srgbClr val="CC33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18437" name="Rectangle 2"/>
          <p:cNvSpPr/>
          <p:nvPr/>
        </p:nvSpPr>
        <p:spPr>
          <a:xfrm>
            <a:off x="2124075" y="3500438"/>
            <a:ext cx="4895850" cy="25209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469900" indent="-469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908050" indent="-43688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2"/>
                </a:solidFill>
              </a:rPr>
              <a:t>姓    名：崔昊</a:t>
            </a:r>
            <a:br>
              <a:rPr lang="zh-CN" altLang="en-US" dirty="0">
                <a:solidFill>
                  <a:schemeClr val="tx2"/>
                </a:solidFill>
              </a:rPr>
            </a:br>
            <a:r>
              <a:rPr lang="zh-CN" altLang="en-US" dirty="0">
                <a:solidFill>
                  <a:schemeClr val="tx2"/>
                </a:solidFill>
              </a:rPr>
              <a:t>学    号：</a:t>
            </a:r>
            <a:r>
              <a:rPr lang="en-US" altLang="zh-CN" dirty="0">
                <a:solidFill>
                  <a:schemeClr val="tx2"/>
                </a:solidFill>
              </a:rPr>
              <a:t>2022217582</a:t>
            </a:r>
            <a:br>
              <a:rPr lang="zh-CN" altLang="en-US" dirty="0">
                <a:solidFill>
                  <a:schemeClr val="tx2"/>
                </a:solidFill>
              </a:rPr>
            </a:br>
            <a:r>
              <a:rPr lang="zh-CN" altLang="en-US" dirty="0">
                <a:solidFill>
                  <a:schemeClr val="tx2"/>
                </a:solidFill>
              </a:rPr>
              <a:t>专业班级：物联网</a:t>
            </a:r>
            <a:r>
              <a:rPr lang="en-US" altLang="zh-CN" dirty="0">
                <a:solidFill>
                  <a:schemeClr val="tx2"/>
                </a:solidFill>
              </a:rPr>
              <a:t>22-2</a:t>
            </a:r>
            <a:br>
              <a:rPr lang="zh-CN" altLang="en-US" dirty="0">
                <a:solidFill>
                  <a:schemeClr val="tx2"/>
                </a:solidFill>
              </a:rPr>
            </a:br>
            <a:r>
              <a:rPr lang="zh-CN" altLang="en-US" dirty="0">
                <a:solidFill>
                  <a:schemeClr val="tx2"/>
                </a:solidFill>
              </a:rPr>
              <a:t>指导教师：金兢</a:t>
            </a:r>
            <a:endParaRPr lang="zh-CN" altLang="en-US" dirty="0">
              <a:solidFill>
                <a:schemeClr val="tx2"/>
              </a:solidFill>
            </a:endParaRPr>
          </a:p>
          <a:p>
            <a:pPr marL="0" lv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dirty="0">
                <a:solidFill>
                  <a:schemeClr val="tx2"/>
                </a:solidFill>
              </a:rPr>
              <a:t>汇报日期：</a:t>
            </a:r>
            <a:r>
              <a:rPr lang="en-US" altLang="zh-CN" dirty="0">
                <a:solidFill>
                  <a:schemeClr val="tx2"/>
                </a:solidFill>
              </a:rPr>
              <a:t>2026-3-</a:t>
            </a:r>
            <a:r>
              <a:rPr lang="en-US" altLang="zh-CN" dirty="0">
                <a:solidFill>
                  <a:schemeClr val="tx1"/>
                </a:solidFill>
              </a:rPr>
              <a:t>7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汇报提纲</a:t>
            </a:r>
            <a:endParaRPr lang="zh-CN" altLang="en-US" dirty="0"/>
          </a:p>
        </p:txBody>
      </p:sp>
      <p:sp>
        <p:nvSpPr>
          <p:cNvPr id="19459" name="Text Box 4"/>
          <p:cNvSpPr>
            <a:spLocks noGrp="1"/>
          </p:cNvSpPr>
          <p:nvPr>
            <p:ph type="body"/>
          </p:nvPr>
        </p:nvSpPr>
        <p:spPr/>
        <p:txBody>
          <a:bodyPr vert="horz" wrap="square" lIns="91440" tIns="45720" rIns="91440" bIns="45720" anchor="t" anchorCtr="0"/>
          <a:p>
            <a:pPr>
              <a:lnSpc>
                <a:spcPct val="170000"/>
              </a:lnSpc>
              <a:spcBef>
                <a:spcPct val="0"/>
              </a:spcBef>
            </a:pPr>
            <a:r>
              <a:rPr lang="zh-CN" altLang="en-US" dirty="0"/>
              <a:t>课题意义</a:t>
            </a:r>
            <a:endParaRPr lang="zh-CN" altLang="en-US" dirty="0"/>
          </a:p>
          <a:p>
            <a:pPr>
              <a:lnSpc>
                <a:spcPct val="170000"/>
              </a:lnSpc>
              <a:spcBef>
                <a:spcPct val="0"/>
              </a:spcBef>
            </a:pPr>
            <a:r>
              <a:rPr lang="zh-CN" altLang="en-US" dirty="0"/>
              <a:t>课题综述</a:t>
            </a:r>
            <a:endParaRPr lang="zh-CN" altLang="en-US" dirty="0"/>
          </a:p>
          <a:p>
            <a:pPr>
              <a:lnSpc>
                <a:spcPct val="170000"/>
              </a:lnSpc>
              <a:spcBef>
                <a:spcPct val="0"/>
              </a:spcBef>
            </a:pPr>
            <a:r>
              <a:rPr lang="zh-CN" altLang="en-US" dirty="0">
                <a:sym typeface="+mn-ea"/>
              </a:rPr>
              <a:t>系统架构</a:t>
            </a:r>
            <a:endParaRPr lang="zh-CN" altLang="en-US" dirty="0">
              <a:sym typeface="+mn-ea"/>
            </a:endParaRPr>
          </a:p>
          <a:p>
            <a:pPr>
              <a:lnSpc>
                <a:spcPct val="170000"/>
              </a:lnSpc>
              <a:spcBef>
                <a:spcPct val="0"/>
              </a:spcBef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课题难点与解决方案</a:t>
            </a:r>
            <a:endParaRPr lang="zh-CN" altLang="en-US" dirty="0">
              <a:solidFill>
                <a:srgbClr val="FF0000"/>
              </a:solidFill>
            </a:endParaRPr>
          </a:p>
          <a:p>
            <a:pPr>
              <a:lnSpc>
                <a:spcPct val="170000"/>
              </a:lnSpc>
              <a:spcBef>
                <a:spcPct val="0"/>
              </a:spcBef>
            </a:pPr>
            <a:r>
              <a:rPr lang="zh-CN" altLang="en-US" dirty="0">
                <a:sym typeface="+mn-ea"/>
              </a:rPr>
              <a:t>预期实验结果</a:t>
            </a:r>
            <a:endParaRPr lang="zh-CN" altLang="en-US" dirty="0">
              <a:sym typeface="+mn-ea"/>
            </a:endParaRPr>
          </a:p>
          <a:p>
            <a:pPr>
              <a:lnSpc>
                <a:spcPct val="170000"/>
              </a:lnSpc>
              <a:spcBef>
                <a:spcPct val="0"/>
              </a:spcBef>
            </a:pPr>
            <a:r>
              <a:rPr lang="zh-CN" altLang="en-US" dirty="0">
                <a:sym typeface="+mn-ea"/>
              </a:rPr>
              <a:t>预期成果</a:t>
            </a:r>
            <a:endParaRPr lang="zh-CN" altLang="en-US"/>
          </a:p>
          <a:p>
            <a:pPr>
              <a:lnSpc>
                <a:spcPct val="170000"/>
              </a:lnSpc>
              <a:spcBef>
                <a:spcPct val="0"/>
              </a:spcBef>
            </a:pPr>
            <a:endParaRPr lang="zh-CN" altLang="en-US" dirty="0">
              <a:sym typeface="+mn-ea"/>
            </a:endParaRPr>
          </a:p>
          <a:p>
            <a:pPr>
              <a:lnSpc>
                <a:spcPct val="170000"/>
              </a:lnSpc>
              <a:spcBef>
                <a:spcPct val="0"/>
              </a:spcBef>
            </a:pPr>
            <a:endParaRPr lang="en-US" altLang="zh-CN" dirty="0"/>
          </a:p>
          <a:p>
            <a:pPr marL="0" indent="0">
              <a:lnSpc>
                <a:spcPct val="170000"/>
              </a:lnSpc>
              <a:spcBef>
                <a:spcPct val="0"/>
              </a:spcBef>
              <a:buNone/>
            </a:pPr>
            <a:endParaRPr lang="zh-CN" altLang="en-US" dirty="0"/>
          </a:p>
        </p:txBody>
      </p:sp>
    </p:spTree>
  </p:cSld>
  <p:clrMapOvr>
    <a:masterClrMapping/>
  </p:clrMapOvr>
  <p:transition spd="med"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课题意义</a:t>
            </a:r>
            <a:endParaRPr lang="zh-CN" altLang="en-US" dirty="0"/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sz="2400" dirty="0"/>
              <a:t>短视频爆发 → Feed流是核心</a:t>
            </a:r>
            <a:endParaRPr sz="2400" dirty="0"/>
          </a:p>
          <a:p>
            <a:r>
              <a:rPr sz="2400" dirty="0"/>
              <a:t>高并发</a:t>
            </a:r>
            <a:r>
              <a:rPr lang="zh-CN" sz="2400" dirty="0"/>
              <a:t>场景面临问题</a:t>
            </a:r>
            <a:r>
              <a:rPr sz="2400" dirty="0"/>
              <a:t>：</a:t>
            </a:r>
            <a:endParaRPr sz="2400" dirty="0"/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sz="2400" dirty="0"/>
              <a:t>· 读多写少</a:t>
            </a:r>
            <a:endParaRPr sz="2400" dirty="0"/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sz="2400" dirty="0"/>
              <a:t>· 热点数据</a:t>
            </a:r>
            <a:endParaRPr sz="2400" dirty="0"/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sz="2400" dirty="0"/>
              <a:t>· 实时性要求</a:t>
            </a:r>
            <a:endParaRPr sz="2400" dirty="0"/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sz="2400" dirty="0"/>
              <a:t>· 系统稳定性</a:t>
            </a:r>
            <a:endParaRPr sz="2400" dirty="0"/>
          </a:p>
        </p:txBody>
      </p:sp>
      <p:pic>
        <p:nvPicPr>
          <p:cNvPr id="3" name="图片 2" descr="生成柱状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955" y="1341755"/>
            <a:ext cx="3519170" cy="1979930"/>
          </a:xfrm>
          <a:prstGeom prst="rect">
            <a:avLst/>
          </a:prstGeom>
        </p:spPr>
      </p:pic>
      <p:pic>
        <p:nvPicPr>
          <p:cNvPr id="4" name="图片 3" descr="image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40" y="4437380"/>
            <a:ext cx="3049270" cy="17157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245" y="3357245"/>
            <a:ext cx="4209415" cy="248539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课题综述</a:t>
            </a:r>
            <a:endParaRPr lang="zh-CN" altLang="en-US" dirty="0"/>
          </a:p>
        </p:txBody>
      </p:sp>
      <p:sp>
        <p:nvSpPr>
          <p:cNvPr id="2150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zh-CN" sz="2000" dirty="0"/>
              <a:t>系统目标：完整短视频Feed流系统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·  账号管理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·  视频发布/播放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·  点赞评论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·  关注社交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·  多种Feed（最新/关注/热榜）</a:t>
            </a:r>
            <a:r>
              <a:rPr lang="en-US" altLang="zh-CN" sz="2000" dirty="0">
                <a:sym typeface="+mn-ea"/>
              </a:rPr>
              <a:t>接口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性能</a:t>
            </a:r>
            <a:r>
              <a:rPr lang="en-US" altLang="zh-CN" sz="2000" dirty="0">
                <a:sym typeface="+mn-ea"/>
              </a:rPr>
              <a:t>目标：                         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·  高吞吐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·  低延迟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·  高可用   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</a:t>
            </a:r>
            <a:endParaRPr lang="en-US" altLang="zh-CN" sz="2000" dirty="0"/>
          </a:p>
        </p:txBody>
      </p:sp>
      <p:pic>
        <p:nvPicPr>
          <p:cNvPr id="4" name="图片 3" descr="去除图片文字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6190" y="1341755"/>
            <a:ext cx="3860165" cy="2814955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系统</a:t>
            </a:r>
            <a:r>
              <a:rPr lang="zh-CN" altLang="en-US" dirty="0">
                <a:sym typeface="+mn-ea"/>
              </a:rPr>
              <a:t>架构</a:t>
            </a:r>
            <a:endParaRPr lang="zh-CN" altLang="en-US" dirty="0">
              <a:sym typeface="+mn-ea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64540" y="1341755"/>
            <a:ext cx="7756525" cy="477012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系统架构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2000" dirty="0">
                <a:sym typeface="+mn-ea"/>
              </a:rPr>
              <a:t>技术栈：</a:t>
            </a:r>
            <a:endParaRPr lang="en-US" altLang="zh-CN" sz="2000" dirty="0">
              <a:sym typeface="+mn-ea"/>
            </a:endParaRP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 sz="1600"/>
          </a:p>
          <a:p>
            <a:pPr marL="0" indent="0">
              <a:buNone/>
            </a:pPr>
            <a:r>
              <a:rPr lang="en-US" altLang="zh-CN" sz="1600">
                <a:sym typeface="+mn-ea"/>
              </a:rPr>
              <a:t>      </a:t>
            </a:r>
            <a:r>
              <a:rPr sz="1600">
                <a:sym typeface="+mn-ea"/>
              </a:rPr>
              <a:t>Go	</a:t>
            </a:r>
            <a:r>
              <a:rPr lang="en-US" sz="1600">
                <a:sym typeface="+mn-ea"/>
              </a:rPr>
              <a:t>      </a:t>
            </a:r>
            <a:r>
              <a:rPr sz="1600">
                <a:sym typeface="+mn-ea"/>
              </a:rPr>
              <a:t>天生高并发，协程轻量</a:t>
            </a:r>
            <a:endParaRPr sz="1600">
              <a:sym typeface="+mn-ea"/>
            </a:endParaRPr>
          </a:p>
          <a:p>
            <a:pPr marL="0" indent="0">
              <a:buNone/>
            </a:pPr>
            <a:r>
              <a:rPr lang="en-US" sz="1600">
                <a:sym typeface="+mn-ea"/>
              </a:rPr>
              <a:t>      </a:t>
            </a:r>
            <a:r>
              <a:rPr sz="1600">
                <a:sym typeface="+mn-ea"/>
              </a:rPr>
              <a:t>Redis</a:t>
            </a:r>
            <a:r>
              <a:rPr lang="en-US" sz="1600">
                <a:sym typeface="+mn-ea"/>
              </a:rPr>
              <a:t>    </a:t>
            </a:r>
            <a:r>
              <a:rPr sz="1600">
                <a:sym typeface="+mn-ea"/>
              </a:rPr>
              <a:t>毫秒级响应，支持ZSET热榜</a:t>
            </a:r>
            <a:endParaRPr sz="1600">
              <a:sym typeface="+mn-ea"/>
            </a:endParaRPr>
          </a:p>
          <a:p>
            <a:pPr marL="0" indent="0">
              <a:buNone/>
            </a:pPr>
            <a:r>
              <a:rPr lang="en-US" sz="1600">
                <a:sym typeface="+mn-ea"/>
              </a:rPr>
              <a:t>      </a:t>
            </a:r>
            <a:r>
              <a:rPr sz="1600">
                <a:sym typeface="+mn-ea"/>
              </a:rPr>
              <a:t>RabbitMQ</a:t>
            </a:r>
            <a:r>
              <a:rPr lang="en-US" sz="1600">
                <a:sym typeface="+mn-ea"/>
              </a:rPr>
              <a:t> </a:t>
            </a:r>
            <a:r>
              <a:rPr sz="1600">
                <a:sym typeface="+mn-ea"/>
              </a:rPr>
              <a:t>异步解耦，保证数据不丢</a:t>
            </a:r>
            <a:endParaRPr sz="16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1844675"/>
            <a:ext cx="6170295" cy="3130550"/>
          </a:xfrm>
          <a:prstGeom prst="rect">
            <a:avLst/>
          </a:prstGeom>
        </p:spPr>
      </p:pic>
      <p:graphicFrame>
        <p:nvGraphicFramePr>
          <p:cNvPr id="6" name="表格 5"/>
          <p:cNvGraphicFramePr/>
          <p:nvPr/>
        </p:nvGraphicFramePr>
        <p:xfrm>
          <a:off x="4572000" y="2738438"/>
          <a:ext cx="0" cy="0"/>
        </p:xfrm>
        <a:graphic>
          <a:graphicData uri="http://schemas.openxmlformats.org/drawingml/2006/table">
            <a:tbl>
              <a:tblPr/>
              <a:tblGrid>
                <a:gridCol w="0"/>
                <a:gridCol w="0"/>
              </a:tblGrid>
              <a:tr h="0">
                <a:tc>
                  <a:txBody>
                    <a:bodyPr/>
                    <a:p>
                      <a:pPr marL="0" indent="0">
                        <a:lnSpc>
                          <a:spcPts val="1875"/>
                        </a:lnSpc>
                      </a:pP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Go</a:t>
                      </a:r>
                      <a:endParaRPr lang="en-US" altLang="zh-CN" sz="11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152400" indent="0">
                        <a:lnSpc>
                          <a:spcPts val="1875"/>
                        </a:lnSpc>
                      </a:pP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quote-cjk-patch"/>
                          <a:ea typeface="quote-cjk-patch"/>
                        </a:rPr>
                        <a:t>高并发后端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quote-cjk-patch"/>
                        <a:ea typeface="quote-cjk-patch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课题难点</a:t>
            </a:r>
            <a:r>
              <a:rPr lang="en-US" altLang="zh-CN"/>
              <a:t>-</a:t>
            </a:r>
            <a:r>
              <a:rPr lang="zh-CN" altLang="en-US">
                <a:sym typeface="+mn-ea"/>
              </a:rPr>
              <a:t>1. 缓存击穿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1800">
                <a:sym typeface="+mn-ea"/>
              </a:rPr>
              <a:t>课题难点</a:t>
            </a:r>
            <a:r>
              <a:rPr lang="en-US" altLang="zh-CN" sz="1800">
                <a:sym typeface="+mn-ea"/>
              </a:rPr>
              <a:t>:                                  </a:t>
            </a:r>
            <a:r>
              <a:rPr lang="zh-CN" altLang="en-US" sz="1800">
                <a:sym typeface="+mn-ea"/>
              </a:rPr>
              <a:t>解决方案</a:t>
            </a:r>
            <a:r>
              <a:rPr lang="en-US" altLang="zh-CN" sz="1800">
                <a:sym typeface="+mn-ea"/>
              </a:rPr>
              <a:t>:</a:t>
            </a: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  </a:t>
            </a:r>
            <a:r>
              <a:rPr lang="zh-CN" altLang="en-US" sz="1800"/>
              <a:t> 缓存击穿</a:t>
            </a:r>
            <a:r>
              <a:rPr lang="en-US" altLang="zh-CN" sz="1800"/>
              <a:t>          </a:t>
            </a:r>
            <a:r>
              <a:rPr lang="en-US" altLang="zh-CN" sz="1800">
                <a:sym typeface="+mn-ea"/>
              </a:rPr>
              <a:t> -----------------&gt;  </a:t>
            </a:r>
            <a:r>
              <a:rPr lang="en-US" altLang="zh-CN" sz="1800"/>
              <a:t>    </a:t>
            </a:r>
            <a:r>
              <a:rPr lang="zh-CN" altLang="en-US" sz="1800">
                <a:sym typeface="+mn-ea"/>
              </a:rPr>
              <a:t> 分布式锁 + 缓存自愈</a:t>
            </a:r>
            <a:endParaRPr lang="zh-CN" altLang="en-US" sz="1800"/>
          </a:p>
          <a:p>
            <a:pPr marL="0" indent="0">
              <a:buNone/>
            </a:pPr>
            <a:r>
              <a:rPr lang="en-US" altLang="zh-CN" sz="1800">
                <a:sym typeface="+mn-ea"/>
              </a:rPr>
              <a:t>                                      </a:t>
            </a:r>
            <a:endParaRPr lang="en-US" altLang="zh-CN" sz="1800">
              <a:sym typeface="+mn-ea"/>
            </a:endParaRPr>
          </a:p>
          <a:p>
            <a:pPr marL="0" indent="0">
              <a:buNone/>
            </a:pPr>
            <a:r>
              <a:rPr lang="en-US" altLang="zh-CN" sz="1800">
                <a:sym typeface="+mn-ea"/>
              </a:rPr>
              <a:t>   </a:t>
            </a:r>
            <a:r>
              <a:rPr lang="zh-CN" altLang="en-US" sz="1800" b="1"/>
              <a:t>热点数据失效瞬间 → 百万请求穿透到DB → 数据库被打爆 → 系统雪崩</a:t>
            </a:r>
            <a:endParaRPr lang="zh-CN" altLang="en-US" sz="1800" b="1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  <a:p>
            <a:endParaRPr lang="zh-CN" altLang="en-US" sz="1800"/>
          </a:p>
        </p:txBody>
      </p:sp>
      <p:pic>
        <p:nvPicPr>
          <p:cNvPr id="6" name="图片 5" descr="生成柱状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8175" y="3068955"/>
            <a:ext cx="5356860" cy="3024505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课题难点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2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热榜实时计算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1800">
                <a:sym typeface="+mn-ea"/>
              </a:rPr>
              <a:t>课题难点</a:t>
            </a:r>
            <a:r>
              <a:rPr lang="en-US" altLang="zh-CN" sz="1800">
                <a:sym typeface="+mn-ea"/>
              </a:rPr>
              <a:t>:                                  </a:t>
            </a:r>
            <a:r>
              <a:rPr lang="zh-CN" altLang="en-US" sz="1800">
                <a:sym typeface="+mn-ea"/>
              </a:rPr>
              <a:t>解决方案</a:t>
            </a:r>
            <a:r>
              <a:rPr lang="en-US" altLang="zh-CN" sz="1800">
                <a:sym typeface="+mn-ea"/>
              </a:rPr>
              <a:t>:</a:t>
            </a:r>
            <a:endParaRPr lang="zh-CN" altLang="en-US" sz="1800"/>
          </a:p>
          <a:p>
            <a:pPr marL="0" indent="0">
              <a:buNone/>
            </a:pPr>
            <a:r>
              <a:rPr lang="en-US" altLang="zh-CN" sz="1800">
                <a:sym typeface="+mn-ea"/>
              </a:rPr>
              <a:t>   </a:t>
            </a:r>
            <a:r>
              <a:rPr sz="1800">
                <a:sym typeface="+mn-ea"/>
              </a:rPr>
              <a:t>热榜实时计算</a:t>
            </a:r>
            <a:r>
              <a:rPr lang="en-US" altLang="zh-CN" sz="1800">
                <a:sym typeface="+mn-ea"/>
              </a:rPr>
              <a:t>         -----------------&gt;      </a:t>
            </a:r>
            <a:r>
              <a:rPr lang="zh-CN" altLang="en-US" sz="1800">
                <a:sym typeface="+mn-ea"/>
              </a:rPr>
              <a:t> 滑动窗口分桶 + 快照</a:t>
            </a:r>
            <a:endParaRPr lang="zh-CN" altLang="en-US" sz="1800">
              <a:sym typeface="+mn-ea"/>
            </a:endParaRPr>
          </a:p>
          <a:p>
            <a:pPr marL="0" indent="0">
              <a:buNone/>
            </a:pPr>
            <a:r>
              <a:rPr lang="en-US" altLang="zh-CN" sz="1800" b="1">
                <a:sym typeface="+mn-ea"/>
              </a:rPr>
              <a:t>每秒成千上万点赞 → 实时计算热度 → CPU爆满 → 接口响应慢 → 用户卡顿 </a:t>
            </a:r>
            <a:r>
              <a:rPr lang="en-US" altLang="zh-CN" sz="1800">
                <a:sym typeface="+mn-ea"/>
              </a:rPr>
              <a:t>  </a:t>
            </a:r>
            <a:r>
              <a:rPr lang="en-US" altLang="zh-CN">
                <a:sym typeface="+mn-ea"/>
              </a:rPr>
              <a:t>            </a:t>
            </a:r>
            <a:endParaRPr lang="zh-CN" altLang="en-US"/>
          </a:p>
        </p:txBody>
      </p:sp>
      <p:pic>
        <p:nvPicPr>
          <p:cNvPr id="4" name="图片 3" descr="wkd6n4a909rmt0cwrb69htbgg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7835" y="2781300"/>
            <a:ext cx="5831840" cy="328676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课题难点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3</a:t>
            </a:r>
            <a:r>
              <a:rPr lang="en-US" altLang="zh-CN">
                <a:sym typeface="+mn-ea"/>
              </a:rPr>
              <a:t>.</a:t>
            </a:r>
            <a:r>
              <a:rPr lang="zh-CN" altLang="en-US">
                <a:sym typeface="+mn-ea"/>
              </a:rPr>
              <a:t>异步处理一致性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1800">
                <a:sym typeface="+mn-ea"/>
              </a:rPr>
              <a:t>课题难点</a:t>
            </a:r>
            <a:r>
              <a:rPr lang="en-US" altLang="zh-CN" sz="1800">
                <a:sym typeface="+mn-ea"/>
              </a:rPr>
              <a:t>:                                  </a:t>
            </a:r>
            <a:r>
              <a:rPr lang="zh-CN" altLang="en-US" sz="1800">
                <a:sym typeface="+mn-ea"/>
              </a:rPr>
              <a:t>解决方案</a:t>
            </a:r>
            <a:r>
              <a:rPr lang="en-US" altLang="zh-CN" sz="1800">
                <a:sym typeface="+mn-ea"/>
              </a:rPr>
              <a:t>:                         </a:t>
            </a:r>
            <a:r>
              <a:rPr lang="zh-CN" altLang="en-US" sz="1800">
                <a:sym typeface="+mn-ea"/>
              </a:rPr>
              <a:t>异步处理一致性</a:t>
            </a:r>
            <a:r>
              <a:rPr lang="en-US" altLang="zh-CN" sz="1800">
                <a:sym typeface="+mn-ea"/>
              </a:rPr>
              <a:t>      -----------------&gt;       </a:t>
            </a:r>
            <a:r>
              <a:rPr sz="1800">
                <a:sym typeface="+mn-ea"/>
              </a:rPr>
              <a:t>MQ异步 + 降级直写</a:t>
            </a: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           </a:t>
            </a:r>
            <a:r>
              <a:rPr lang="zh-CN" altLang="en-US" sz="1800" b="1"/>
              <a:t>用户点赞 → 写DB慢 → 接口卡死 → 体验差</a:t>
            </a:r>
            <a:endParaRPr lang="zh-CN" altLang="en-US" sz="1800" b="1"/>
          </a:p>
          <a:p>
            <a:pPr marL="0" indent="0">
              <a:buNone/>
            </a:pPr>
            <a:r>
              <a:rPr lang="en-US" altLang="zh-CN" sz="1800" b="1"/>
              <a:t>         </a:t>
            </a:r>
            <a:r>
              <a:rPr lang="zh-CN" altLang="en-US" sz="1800" b="1"/>
              <a:t>MQ故障 → 消息丢失 → 点赞/评论数据不一致→ 用户投诉</a:t>
            </a:r>
            <a:endParaRPr lang="zh-CN" altLang="en-US" sz="1800" b="1"/>
          </a:p>
        </p:txBody>
      </p:sp>
      <p:pic>
        <p:nvPicPr>
          <p:cNvPr id="5" name="图片 4" descr="375fa14260b23cb2619582765690f2d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4030" y="2924810"/>
            <a:ext cx="5542280" cy="314071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解决方案</a:t>
            </a:r>
            <a:r>
              <a:rPr lang="en-US" altLang="zh-CN">
                <a:sym typeface="+mn-ea"/>
              </a:rPr>
              <a:t>-1</a:t>
            </a:r>
            <a:r>
              <a:rPr lang="en-US" altLang="zh-CN">
                <a:sym typeface="+mn-ea"/>
              </a:rPr>
              <a:t>.</a:t>
            </a:r>
            <a:r>
              <a:rPr lang="zh-CN" altLang="en-US"/>
              <a:t>缓存击穿防护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5295" y="1341755"/>
            <a:ext cx="8291830" cy="4770120"/>
          </a:xfrm>
        </p:spPr>
        <p:txBody>
          <a:bodyPr/>
          <a:p>
            <a:r>
              <a:rPr lang="zh-CN" altLang="en-US" sz="2000"/>
              <a:t>分布式锁防击穿机制</a:t>
            </a:r>
            <a:endParaRPr lang="zh-CN" altLang="en-US" sz="2000"/>
          </a:p>
          <a:p>
            <a:pPr marL="0" indent="0">
              <a:buNone/>
            </a:pPr>
            <a:r>
              <a:rPr lang="en-US" altLang="zh-CN" sz="2000"/>
              <a:t>                                            </a:t>
            </a:r>
            <a:r>
              <a:rPr lang="zh-CN" altLang="en-US" sz="2000"/>
              <a:t>·防热点Key失效雪崩</a:t>
            </a:r>
            <a:endParaRPr lang="zh-CN" altLang="en-US" sz="2000"/>
          </a:p>
          <a:p>
            <a:pPr marL="0" indent="0">
              <a:buNone/>
            </a:pPr>
            <a:r>
              <a:rPr lang="en-US" altLang="zh-CN" sz="2000"/>
              <a:t>                                            </a:t>
            </a:r>
            <a:r>
              <a:rPr lang="zh-CN" altLang="en-US" sz="2000"/>
              <a:t>·单请求回源</a:t>
            </a:r>
            <a:endParaRPr lang="zh-CN" altLang="en-US" sz="2000"/>
          </a:p>
          <a:p>
            <a:pPr marL="0" indent="0">
              <a:buNone/>
            </a:pPr>
            <a:r>
              <a:rPr lang="en-US" altLang="zh-CN" sz="2000"/>
              <a:t>                                            </a:t>
            </a:r>
            <a:r>
              <a:rPr lang="zh-CN" altLang="en-US" sz="2000"/>
              <a:t>·保护数据库</a:t>
            </a:r>
            <a:endParaRPr lang="zh-CN" altLang="en-US" sz="2000"/>
          </a:p>
          <a:p>
            <a:pPr marL="0" indent="0">
              <a:buNone/>
            </a:pPr>
            <a:endParaRPr lang="zh-CN" altLang="en-US" sz="2000"/>
          </a:p>
          <a:p>
            <a:pPr marL="0" indent="0">
              <a:buNone/>
            </a:pPr>
            <a:endParaRPr lang="zh-CN" altLang="en-US" sz="2000"/>
          </a:p>
          <a:p>
            <a:pPr marL="0" indent="0">
              <a:buNone/>
            </a:pPr>
            <a:endParaRPr lang="zh-CN" altLang="en-US" sz="2000"/>
          </a:p>
          <a:p>
            <a:pPr marL="0" indent="0">
              <a:buNone/>
            </a:pPr>
            <a:endParaRPr lang="zh-CN" altLang="en-US" sz="2000"/>
          </a:p>
          <a:p>
            <a:pPr marL="0" indent="0">
              <a:buNone/>
            </a:pPr>
            <a:endParaRPr lang="zh-CN" altLang="en-US" sz="2000"/>
          </a:p>
          <a:p>
            <a:pPr marL="0" indent="0">
              <a:buNone/>
            </a:pPr>
            <a:endParaRPr lang="zh-CN" altLang="en-US" sz="2000"/>
          </a:p>
          <a:p>
            <a:pPr marL="0" indent="0">
              <a:buNone/>
            </a:pPr>
            <a:endParaRPr lang="zh-CN" altLang="en-US" sz="1200"/>
          </a:p>
        </p:txBody>
      </p:sp>
      <p:pic>
        <p:nvPicPr>
          <p:cNvPr id="4" name="图片 3" descr="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1916430"/>
            <a:ext cx="5429250" cy="338836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 </a:t>
            </a:r>
            <a:r>
              <a:rPr lang="zh-CN" altLang="en-US">
                <a:sym typeface="+mn-ea"/>
              </a:rPr>
              <a:t>解决方案</a:t>
            </a:r>
            <a:r>
              <a:rPr lang="en-US" altLang="zh-CN">
                <a:sym typeface="+mn-ea"/>
              </a:rPr>
              <a:t>-2.</a:t>
            </a:r>
            <a:r>
              <a:rPr lang="zh-CN" altLang="en-US">
                <a:sym typeface="+mn-ea"/>
              </a:rPr>
              <a:t>热榜实时计算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000"/>
              <a:t>滑动窗口热榜分桶</a:t>
            </a:r>
            <a:endParaRPr lang="zh-CN" altLang="en-US" sz="2000"/>
          </a:p>
          <a:p>
            <a:pPr marL="0" indent="0">
              <a:buNone/>
            </a:pPr>
            <a:r>
              <a:rPr lang="en-US" altLang="zh-CN" sz="2000"/>
              <a:t>                                             </a:t>
            </a:r>
            <a:r>
              <a:rPr lang="zh-CN" altLang="en-US" sz="2000"/>
              <a:t>·分钟级分桶</a:t>
            </a:r>
            <a:endParaRPr lang="zh-CN" altLang="en-US" sz="2000"/>
          </a:p>
          <a:p>
            <a:pPr marL="0" indent="0">
              <a:buNone/>
            </a:pPr>
            <a:r>
              <a:rPr lang="en-US" altLang="zh-CN" sz="2000"/>
              <a:t>                                             </a:t>
            </a:r>
            <a:r>
              <a:rPr lang="zh-CN" altLang="en-US" sz="2000"/>
              <a:t>·避免实时聚合</a:t>
            </a:r>
            <a:endParaRPr lang="zh-CN" altLang="en-US" sz="2000"/>
          </a:p>
          <a:p>
            <a:pPr marL="0" indent="0">
              <a:buNone/>
            </a:pPr>
            <a:r>
              <a:rPr lang="en-US" altLang="zh-CN" sz="2000"/>
              <a:t>                                             </a:t>
            </a:r>
            <a:r>
              <a:rPr lang="zh-CN" altLang="en-US" sz="2000"/>
              <a:t>·快照保证分页稳定</a:t>
            </a:r>
            <a:endParaRPr lang="zh-CN" altLang="en-US" sz="2000"/>
          </a:p>
        </p:txBody>
      </p:sp>
      <p:pic>
        <p:nvPicPr>
          <p:cNvPr id="4" name="图片 3" descr="生成柱状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1916430"/>
            <a:ext cx="5720080" cy="324866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解决方案</a:t>
            </a:r>
            <a:r>
              <a:rPr lang="en-US" altLang="zh-CN">
                <a:sym typeface="+mn-ea"/>
              </a:rPr>
              <a:t>-3.</a:t>
            </a:r>
            <a:r>
              <a:rPr lang="zh-CN" altLang="en-US">
                <a:sym typeface="+mn-ea"/>
              </a:rPr>
              <a:t>异步处理一致</a:t>
            </a:r>
            <a:endParaRPr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000"/>
              <a:t> RabbitMQ事件驱动 + 降级</a:t>
            </a:r>
            <a:endParaRPr lang="zh-CN" altLang="en-US" sz="2000"/>
          </a:p>
          <a:p>
            <a:pPr marL="0" indent="0">
              <a:buNone/>
            </a:pPr>
            <a:r>
              <a:rPr lang="en-US" altLang="zh-CN" sz="2000"/>
              <a:t>                                                 </a:t>
            </a:r>
            <a:r>
              <a:rPr lang="zh-CN" altLang="en-US" sz="2000"/>
              <a:t>·接口快速响应</a:t>
            </a:r>
            <a:endParaRPr lang="zh-CN" altLang="en-US" sz="2000"/>
          </a:p>
          <a:p>
            <a:pPr marL="0" indent="0">
              <a:buNone/>
            </a:pPr>
            <a:r>
              <a:rPr lang="en-US" altLang="zh-CN" sz="2000"/>
              <a:t>                                                 </a:t>
            </a:r>
            <a:r>
              <a:rPr lang="zh-CN" altLang="en-US" sz="2000"/>
              <a:t>·MQ异常兜底</a:t>
            </a:r>
            <a:endParaRPr lang="zh-CN" altLang="en-US" sz="2000"/>
          </a:p>
          <a:p>
            <a:pPr marL="0" indent="0">
              <a:buNone/>
            </a:pPr>
            <a:r>
              <a:rPr lang="en-US" altLang="zh-CN" sz="2000"/>
              <a:t>                                                 </a:t>
            </a:r>
            <a:r>
              <a:rPr lang="zh-CN" altLang="en-US" sz="2000"/>
              <a:t>·最终一致性</a:t>
            </a:r>
            <a:endParaRPr lang="zh-CN" altLang="en-US" sz="2000"/>
          </a:p>
        </p:txBody>
      </p:sp>
      <p:pic>
        <p:nvPicPr>
          <p:cNvPr id="6" name="图片 5" descr="ai-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995" y="1916430"/>
            <a:ext cx="6137275" cy="345059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预期实验结果</a:t>
            </a:r>
            <a:endParaRPr lang="zh-CN" altLang="en-US"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1341755"/>
            <a:ext cx="8207375" cy="4848860"/>
          </a:xfrm>
        </p:spPr>
        <p:txBody>
          <a:bodyPr/>
          <a:p>
            <a:r>
              <a:rPr lang="zh-CN" altLang="en-US" sz="1800"/>
              <a:t>吞吐量对比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400"/>
              <a:t>✅ 数据库压力 ↓90%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✅ 系统稳定性 ↑无雪崩风险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✅ 用户体验：热点失效无感知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 sz="1800"/>
              <a:t>                                             </a:t>
            </a:r>
            <a:r>
              <a:rPr lang="en-US" altLang="zh-CN" sz="1000"/>
              <a:t> 缓存击穿  →  数据库压力降低   →   ↓90% </a:t>
            </a:r>
            <a:endParaRPr lang="en-US" altLang="zh-CN" sz="1000"/>
          </a:p>
          <a:p>
            <a:r>
              <a:rPr lang="zh-CN" altLang="en-US" sz="1800"/>
              <a:t>延迟对比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400"/>
              <a:t>✅ 计算开销 ↓</a:t>
            </a:r>
            <a:r>
              <a:rPr lang="en-US" altLang="zh-CN" sz="1400"/>
              <a:t>6</a:t>
            </a:r>
            <a:r>
              <a:rPr lang="zh-CN" altLang="en-US" sz="1400"/>
              <a:t>0%(CPU 100%→40%)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✅ 分页稳定不跳页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✅ 实时性：秒级更新</a:t>
            </a:r>
            <a:endParaRPr lang="zh-CN" altLang="en-US" sz="1400"/>
          </a:p>
          <a:p>
            <a:pPr marL="0" indent="457200">
              <a:buNone/>
            </a:pPr>
            <a:r>
              <a:rPr lang="en-US" altLang="zh-CN" sz="1000"/>
              <a:t>                                                                           </a:t>
            </a:r>
            <a:r>
              <a:rPr lang="zh-CN" altLang="en-US" sz="1000"/>
              <a:t>热榜计算  →  CPU开销减少      →   ↓</a:t>
            </a:r>
            <a:r>
              <a:rPr lang="en-US" altLang="zh-CN" sz="1000"/>
              <a:t>6</a:t>
            </a:r>
            <a:r>
              <a:rPr lang="zh-CN" altLang="en-US" sz="1000"/>
              <a:t>0%  </a:t>
            </a:r>
            <a:endParaRPr lang="zh-CN" altLang="en-US" sz="1000"/>
          </a:p>
          <a:p>
            <a:r>
              <a:rPr lang="zh-CN" altLang="en-US" sz="1800"/>
              <a:t>缓存命中率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400"/>
              <a:t>✅ 接口响应：200ms → 20ms</a:t>
            </a:r>
            <a:r>
              <a:rPr lang="en-US" altLang="zh-CN" sz="1400"/>
              <a:t>  ↑10倍</a:t>
            </a:r>
            <a:endParaRPr lang="en-US" altLang="zh-CN" sz="1400"/>
          </a:p>
          <a:p>
            <a:pPr marL="0" indent="0">
              <a:buNone/>
            </a:pPr>
            <a:r>
              <a:rPr lang="zh-CN" altLang="en-US" sz="1400"/>
              <a:t>✅ 数据零丢失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✅ MQ故障自动降级，恢复后自动同步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 sz="1000"/>
              <a:t>                                                                               </a:t>
            </a:r>
            <a:endParaRPr lang="en-US" altLang="zh-CN" sz="1000"/>
          </a:p>
          <a:p>
            <a:pPr marL="0" indent="0">
              <a:buNone/>
            </a:pPr>
            <a:r>
              <a:rPr lang="en-US" altLang="zh-CN" sz="1000"/>
              <a:t>                                                                                 </a:t>
            </a:r>
            <a:r>
              <a:rPr lang="zh-CN" altLang="en-US" sz="1000"/>
              <a:t>异步一致  →  接口响应提速     →   ↑10倍 </a:t>
            </a:r>
            <a:endParaRPr lang="zh-CN" altLang="en-US" sz="1000"/>
          </a:p>
        </p:txBody>
      </p:sp>
      <p:pic>
        <p:nvPicPr>
          <p:cNvPr id="4" name="图片 3" descr="aa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2135" y="2997835"/>
            <a:ext cx="2627630" cy="1296670"/>
          </a:xfrm>
          <a:prstGeom prst="rect">
            <a:avLst/>
          </a:prstGeom>
        </p:spPr>
      </p:pic>
      <p:pic>
        <p:nvPicPr>
          <p:cNvPr id="5" name="图片 4" descr="b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990" y="1299845"/>
            <a:ext cx="3055620" cy="1379220"/>
          </a:xfrm>
          <a:prstGeom prst="rect">
            <a:avLst/>
          </a:prstGeom>
        </p:spPr>
      </p:pic>
      <p:pic>
        <p:nvPicPr>
          <p:cNvPr id="6" name="图片 5" descr="hx12gr8zbnrmr0cwrb7akhj34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425" y="4509135"/>
            <a:ext cx="2426335" cy="136779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预期成果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000">
                <a:sym typeface="+mn-ea"/>
              </a:rPr>
              <a:t>预期成果：</a:t>
            </a:r>
            <a:endParaRPr lang="zh-CN" altLang="en-US" sz="2000"/>
          </a:p>
          <a:p>
            <a:pPr marL="0" indent="457200">
              <a:buNone/>
            </a:pPr>
            <a:r>
              <a:rPr lang="zh-CN" altLang="en-US" sz="2000">
                <a:sym typeface="+mn-ea"/>
              </a:rPr>
              <a:t>软件成果：完整源码、Docker Compose 部署脚本、一键启动脚本。</a:t>
            </a:r>
            <a:endParaRPr lang="zh-CN" altLang="en-US" sz="2000"/>
          </a:p>
          <a:p>
            <a:pPr marL="0" indent="457200">
              <a:buNone/>
            </a:pPr>
            <a:r>
              <a:rPr lang="zh-CN" altLang="en-US" sz="2000">
                <a:sym typeface="+mn-ea"/>
              </a:rPr>
              <a:t>文档成果：项目 README、API 文档（Postman 集合）、数据生成脚本、实验报告。</a:t>
            </a:r>
            <a:endParaRPr lang="zh-CN" altLang="en-US" sz="2000"/>
          </a:p>
          <a:p>
            <a:pPr marL="0" indent="457200">
              <a:buNone/>
            </a:pPr>
            <a:r>
              <a:rPr lang="zh-CN" altLang="en-US" sz="2000">
                <a:sym typeface="+mn-ea"/>
              </a:rPr>
              <a:t>学术成果：毕业论文一份，包含系统设计、关键实现、实验数据分析。</a:t>
            </a:r>
            <a:endParaRPr lang="zh-CN" altLang="en-US" sz="2000"/>
          </a:p>
          <a:p>
            <a:pPr marL="0" indent="457200">
              <a:buNone/>
            </a:pPr>
            <a:r>
              <a:rPr lang="zh-CN" altLang="en-US" sz="2000">
                <a:sym typeface="+mn-ea"/>
              </a:rPr>
              <a:t>演示材料：答辩 PPT、功能演示录屏。</a:t>
            </a:r>
            <a:endParaRPr lang="zh-CN" altLang="en-US" sz="2000"/>
          </a:p>
          <a:p>
            <a:endParaRPr lang="zh-CN" altLang="en-US" sz="2000"/>
          </a:p>
        </p:txBody>
      </p:sp>
    </p:spTree>
  </p:cSld>
  <p:clrMapOvr>
    <a:masterClrMapping/>
  </p:clrMapOvr>
  <p:transition spd="med"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50825" y="2790825"/>
            <a:ext cx="8642350" cy="12763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200" b="1" kern="1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5200" b="1" kern="1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5200" b="1" kern="1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5200" b="1" kern="1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5200" b="1" kern="1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5200" b="1" kern="1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5200" b="1" kern="1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5200" b="1" kern="1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5200" b="1" kern="1200">
                <a:solidFill>
                  <a:srgbClr val="CC3300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请各位评委老师指导！</a:t>
            </a:r>
            <a:endParaRPr kumimoji="0" lang="zh-CN" altLang="en-US" sz="7200" b="0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  <p:transition spd="med">
    <p:zoom/>
  </p:transition>
</p:sld>
</file>

<file path=ppt/tags/tag1.xml><?xml version="1.0" encoding="utf-8"?>
<p:tagLst xmlns:p="http://schemas.openxmlformats.org/presentationml/2006/main">
  <p:tag name="commondata" val="eyJoZGlkIjoiMmMxZjNlMWMzZGYxZjhiNDRhZjI0Zjg4NTNlODViODQifQ=="/>
</p:tagLst>
</file>

<file path=ppt/theme/theme1.xml><?xml version="1.0" encoding="utf-8"?>
<a:theme xmlns:a="http://schemas.openxmlformats.org/drawingml/2006/main" name="计算机与信息学院本科毕业设计开题汇报">
  <a:themeElements>
    <a:clrScheme name="zdy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zdy">
      <a:majorFont>
        <a:latin typeface="Verdana"/>
        <a:ea typeface="黑体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812800" marR="0" indent="-812800" algn="ctr" defTabSz="914400" rtl="0" eaLnBrk="1" fontAlgn="base" latinLnBrk="0" hangingPunct="1">
          <a:lnSpc>
            <a:spcPct val="150000"/>
          </a:lnSpc>
          <a:spcBef>
            <a:spcPct val="20000"/>
          </a:spcBef>
          <a:spcAft>
            <a:spcPct val="0"/>
          </a:spcAft>
          <a:buClr>
            <a:schemeClr val="tx1"/>
          </a:buClr>
          <a:buSzTx/>
          <a:buFont typeface="Wingdings" panose="05000000000000000000" pitchFamily="2" charset="2"/>
          <a:buNone/>
          <a:defRPr kumimoji="0" lang="zh-CN" altLang="en-US" sz="5200" b="1" i="0" u="none" strike="noStrike" cap="none" normalizeH="0" baseline="0" smtClean="0">
            <a:ln>
              <a:noFill/>
            </a:ln>
            <a:solidFill>
              <a:srgbClr val="CC3300"/>
            </a:solidFill>
            <a:effectLst/>
            <a:latin typeface="Times New Roman" panose="02020603050405020304" pitchFamily="18" charset="0"/>
            <a:ea typeface="华文新魏" panose="020108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812800" marR="0" indent="-812800" algn="ctr" defTabSz="914400" rtl="0" eaLnBrk="1" fontAlgn="base" latinLnBrk="0" hangingPunct="1">
          <a:lnSpc>
            <a:spcPct val="150000"/>
          </a:lnSpc>
          <a:spcBef>
            <a:spcPct val="20000"/>
          </a:spcBef>
          <a:spcAft>
            <a:spcPct val="0"/>
          </a:spcAft>
          <a:buClr>
            <a:schemeClr val="tx1"/>
          </a:buClr>
          <a:buSzTx/>
          <a:buFont typeface="Wingdings" panose="05000000000000000000" pitchFamily="2" charset="2"/>
          <a:buNone/>
          <a:defRPr kumimoji="0" lang="zh-CN" altLang="en-US" sz="5200" b="1" i="0" u="none" strike="noStrike" cap="none" normalizeH="0" baseline="0" smtClean="0">
            <a:ln>
              <a:noFill/>
            </a:ln>
            <a:solidFill>
              <a:srgbClr val="CC3300"/>
            </a:solidFill>
            <a:effectLst/>
            <a:latin typeface="Times New Roman" panose="02020603050405020304" pitchFamily="18" charset="0"/>
            <a:ea typeface="华文新魏" panose="02010800040101010101" pitchFamily="2" charset="-122"/>
          </a:defRPr>
        </a:defPPr>
      </a:lstStyle>
    </a:lnDef>
  </a:objectDefaults>
  <a:extraClrSchemeLst>
    <a:extraClrScheme>
      <a:clrScheme name="zdy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zdy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zdy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校领导学院调研汇报200911</Template>
  <TotalTime>0</TotalTime>
  <Words>2214</Words>
  <Application>WPS 演示</Application>
  <PresentationFormat>全屏显示(4:3)</PresentationFormat>
  <Paragraphs>146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宋体</vt:lpstr>
      <vt:lpstr>Wingdings</vt:lpstr>
      <vt:lpstr>Times New Roman</vt:lpstr>
      <vt:lpstr>华文新魏</vt:lpstr>
      <vt:lpstr>Verdana</vt:lpstr>
      <vt:lpstr>黑体</vt:lpstr>
      <vt:lpstr>quote-cjk-patch</vt:lpstr>
      <vt:lpstr>Segoe Print</vt:lpstr>
      <vt:lpstr>微软雅黑</vt:lpstr>
      <vt:lpstr>Arial Unicode MS</vt:lpstr>
      <vt:lpstr>楷体_GB2312</vt:lpstr>
      <vt:lpstr>新宋体</vt:lpstr>
      <vt:lpstr>计算机与信息学院本科毕业设计开题汇报</vt:lpstr>
      <vt:lpstr>题目：基于Go的高性能短视频Feed流系统的设计与实现   </vt:lpstr>
      <vt:lpstr>汇报提纲</vt:lpstr>
      <vt:lpstr>课题意义</vt:lpstr>
      <vt:lpstr>课题综述</vt:lpstr>
      <vt:lpstr>系统架构</vt:lpstr>
      <vt:lpstr>系统架构</vt:lpstr>
      <vt:lpstr>课题难点-1. 缓存击穿</vt:lpstr>
      <vt:lpstr>课题难点-2.热榜实时计算</vt:lpstr>
      <vt:lpstr>课题难点-3.异步处理一致性</vt:lpstr>
      <vt:lpstr>解决方案-1.缓存击穿防护</vt:lpstr>
      <vt:lpstr> 解决方案-2.热榜实时计算</vt:lpstr>
      <vt:lpstr>解决方案-3.异步处理一致</vt:lpstr>
      <vt:lpstr>预期实验结果</vt:lpstr>
      <vt:lpstr>预期成果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王伟</dc:creator>
  <cp:lastModifiedBy>flag{this_is_flag}</cp:lastModifiedBy>
  <cp:revision>218</cp:revision>
  <dcterms:created xsi:type="dcterms:W3CDTF">2009-11-14T07:16:00Z</dcterms:created>
  <dcterms:modified xsi:type="dcterms:W3CDTF">2026-04-10T09:54:56Z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C60E5AA02364457ABBB08B0477682794_12</vt:lpwstr>
  </property>
  <property fmtid="{D5CDD505-2E9C-101B-9397-08002B2CF9AE}" pid="3" name="KSOProductBuildVer">
    <vt:lpwstr>2052-12.1.0.17857</vt:lpwstr>
  </property>
</Properties>
</file>